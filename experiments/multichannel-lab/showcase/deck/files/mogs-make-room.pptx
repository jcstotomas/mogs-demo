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f05af3d2d142a7" /><Relationship Type="http://schemas.openxmlformats.org/officeDocument/2006/relationships/extended-properties" Target="/docProps/app.xml" Id="R4c4d0cfc353a45a8" /><Relationship Type="http://schemas.openxmlformats.org/officeDocument/2006/relationships/officeDocument" Target="/ppt/presentation.xml" Id="R702933834b844a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ecde8d2a5d4da5"/>
  </p:sldMasterIdLst>
  <p:notesMasterIdLst>
    <p:notesMasterId xmlns:r="http://schemas.openxmlformats.org/officeDocument/2006/relationships" r:id="Rfeafb7997fa541b9"/>
  </p:notesMasterIdLst>
  <p:sldIdLst>
    <p:sldId xmlns:r="http://schemas.openxmlformats.org/officeDocument/2006/relationships" id="256" r:id="R17fca249d6ff4ac9"/>
    <p:sldId xmlns:r="http://schemas.openxmlformats.org/officeDocument/2006/relationships" id="257" r:id="R4bb70f56a7b041d3"/>
    <p:sldId xmlns:r="http://schemas.openxmlformats.org/officeDocument/2006/relationships" id="258" r:id="R4e0fc0f65f7e45d9"/>
    <p:sldId xmlns:r="http://schemas.openxmlformats.org/officeDocument/2006/relationships" id="259" r:id="R1b809ef52ce74455"/>
    <p:sldId xmlns:r="http://schemas.openxmlformats.org/officeDocument/2006/relationships" id="260" r:id="R818dc9602fe440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c5cd32c4cf44bc" /><Relationship Type="http://schemas.openxmlformats.org/officeDocument/2006/relationships/slideMaster" Target="/ppt/slideMasters/slideMaster1.xml" Id="Rceecde8d2a5d4da5" /><Relationship Type="http://schemas.openxmlformats.org/officeDocument/2006/relationships/notesMaster" Target="/ppt/notesMasters/notesMaster1.xml" Id="Rfeafb7997fa541b9" /><Relationship Type="http://schemas.openxmlformats.org/officeDocument/2006/relationships/presProps" Target="/ppt/presProps.xml" Id="Rfb0ea1a7fd0447c8" /><Relationship Type="http://schemas.openxmlformats.org/officeDocument/2006/relationships/tableStyles" Target="/ppt/tableStyles.xml" Id="R008c116153fb4e76" /><Relationship Type="http://schemas.openxmlformats.org/officeDocument/2006/relationships/slide" Target="/ppt/slides/slide1.xml" Id="R17fca249d6ff4ac9" /><Relationship Type="http://schemas.openxmlformats.org/officeDocument/2006/relationships/slide" Target="/ppt/slides/slide2.xml" Id="R4bb70f56a7b041d3" /><Relationship Type="http://schemas.openxmlformats.org/officeDocument/2006/relationships/slide" Target="/ppt/slides/slide3.xml" Id="R4e0fc0f65f7e45d9" /><Relationship Type="http://schemas.openxmlformats.org/officeDocument/2006/relationships/slide" Target="/ppt/slides/slide4.xml" Id="R1b809ef52ce74455" /><Relationship Type="http://schemas.openxmlformats.org/officeDocument/2006/relationships/slide" Target="/ppt/slides/slide5.xml" Id="R818dc9602fe440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4463bb834a45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335e0b520a423e" /><Relationship Type="http://schemas.openxmlformats.org/officeDocument/2006/relationships/notesMaster" Target="/ppt/notesMasters/notesMaster1.xml" Id="Ra1e059585c654c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060b81af474317" /><Relationship Type="http://schemas.openxmlformats.org/officeDocument/2006/relationships/notesMaster" Target="/ppt/notesMasters/notesMaster1.xml" Id="Re08a61c6a9c443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96f6d156154f95" /><Relationship Type="http://schemas.openxmlformats.org/officeDocument/2006/relationships/notesMaster" Target="/ppt/notesMasters/notesMaster1.xml" Id="Ra5ea8751a2194d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5a4eab381b4ac2" /><Relationship Type="http://schemas.openxmlformats.org/officeDocument/2006/relationships/notesMaster" Target="/ppt/notesMasters/notesMaster1.xml" Id="R5af89199145b4a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839f693ee6450d" /><Relationship Type="http://schemas.openxmlformats.org/officeDocument/2006/relationships/notesMaster" Target="/ppt/notesMasters/notesMaster1.xml" Id="R8c22ab14681048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SPEC.md sections 2 and 3. Fictional MOGS campaign. Cover image generated for this campaign, not a photograph of a real MOGS office or event. Pricing pages intentionally use the unchanged $30 source offer for the isolated launch-correction lab.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SPEC.md sections 2 and 3. MOGS is fictional team scheduling software. Pricing copy intentionally represents the unchanged $30 source offer so the isolated launch-correction lab can review stale direct and derived claims. Not a published offer or production acceptance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SPEC.md sections 2 and 3. MOGS is fictional team scheduling software. Pricing copy intentionally represents the unchanged $30 source offer so the isolated launch-correction lab can review stale direct and derived claims. Not a published offer or production acceptance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SPEC.md sections 2 and 3. MOGS is fictional team scheduling software. Pricing copy intentionally represents the unchanged $30 source offer so the isolated launch-correction lab can review stale direct and derived claims. Not a published offer or production acceptance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SPEC.md sections 2 and 3. MOGS is fictional team scheduling software. Pricing copy intentionally represents the unchanged $30 source offer so the isolated launch-correction lab can review stale direct and derived claims. Not a published offer or production acceptance record.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365092c63248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1203c4387b46dc" /><Relationship Type="http://schemas.openxmlformats.org/officeDocument/2006/relationships/slideLayout" Target="/ppt/slideLayouts/slideLayout1.xml" Id="R63fda03ec0ab4c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fda03ec0ab4c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f23e1fa1b84535" /><Relationship Type="http://schemas.openxmlformats.org/officeDocument/2006/relationships/image" Target="/ppt/media/image.png" Id="R72c40e30b0da4a8c" /><Relationship Type="http://schemas.openxmlformats.org/officeDocument/2006/relationships/notesSlide" Target="/ppt/notesSlides/notesSlide1.xml" Id="R8a9e0c64181742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294e3fef34778" /><Relationship Type="http://schemas.openxmlformats.org/officeDocument/2006/relationships/notesSlide" Target="/ppt/notesSlides/notesSlide2.xml" Id="Rc4a66002883d4b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58cd2da884191" /><Relationship Type="http://schemas.openxmlformats.org/officeDocument/2006/relationships/notesSlide" Target="/ppt/notesSlides/notesSlide3.xml" Id="R57d5dbc1ab5349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c8007291346fd" /><Relationship Type="http://schemas.openxmlformats.org/officeDocument/2006/relationships/notesSlide" Target="/ppt/notesSlides/notesSlide4.xml" Id="Rd3fd4ff2b5d542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f689324174441" /><Relationship Type="http://schemas.openxmlformats.org/officeDocument/2006/relationships/notesSlide" Target="/ppt/notesSlides/notesSlide5.xml" Id="R6b36e97e357d42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C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1FF571-6984-47E4-80FF-C73952EA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MOGS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D2AE6F-6778-4194-8916-1E7577DE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19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7D7C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7D7CE"/>
                </a:solidFill>
                <a:latin typeface="Arial"/>
                <a:ea typeface="Arial"/>
                <a:cs typeface="Arial"/>
              </a:rPr>
              <a:t>Fictional MOGS campaign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5A1615-F178-418F-9289-E6D4DB18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7222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7D7C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7D7C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c40e30b0da4a8c"/>
          <a:srcRect xmlns:a="http://schemas.openxmlformats.org/drawingml/2006/main" l="24537" t="0" r="2453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0"/>
            <a:ext cx="5238750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7481A-D2AC-4159-B74D-F312AD3E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600200"/>
            <a:ext cx="628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600" b="0">
                <a:solidFill>
                  <a:srgbClr val="F5F1E7"/>
                </a:solidFill>
                <a:latin typeface="Georgia"/>
                <a:ea typeface="Georgia"/>
                <a:cs typeface="Georgia"/>
              </a:defRPr>
            </a:pPr>
            <a:r>
              <a:rPr sz="6600" b="0">
                <a:solidFill>
                  <a:srgbClr val="F5F1E7"/>
                </a:solidFill>
                <a:latin typeface="Georgia"/>
                <a:ea typeface="Georgia"/>
                <a:cs typeface="Georgia"/>
              </a:rPr>
              <a:t>Make room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186D6-B788-4D91-BD4C-CC9977FE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543175"/>
            <a:ext cx="628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600" b="0">
                <a:solidFill>
                  <a:srgbClr val="F5F1E7"/>
                </a:solidFill>
                <a:latin typeface="Georgia"/>
                <a:ea typeface="Georgia"/>
                <a:cs typeface="Georgia"/>
              </a:defRPr>
            </a:pPr>
            <a:r>
              <a:rPr sz="6600" b="0">
                <a:solidFill>
                  <a:srgbClr val="F5F1E7"/>
                </a:solidFill>
                <a:latin typeface="Georgia"/>
                <a:ea typeface="Georgia"/>
                <a:cs typeface="Georgia"/>
              </a:rPr>
              <a:t>for good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9CF9FB-B030-4C26-9083-AFFF28E2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486150"/>
            <a:ext cx="628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600" b="0">
                <a:solidFill>
                  <a:srgbClr val="F5F1E7"/>
                </a:solidFill>
                <a:latin typeface="Georgia"/>
                <a:ea typeface="Georgia"/>
                <a:cs typeface="Georgia"/>
              </a:defRPr>
            </a:pPr>
            <a:r>
              <a:rPr sz="6600" b="0">
                <a:solidFill>
                  <a:srgbClr val="F5F1E7"/>
                </a:solidFill>
                <a:latin typeface="Georgia"/>
                <a:ea typeface="Georgia"/>
                <a:cs typeface="Georgia"/>
              </a:rPr>
              <a:t>work.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AEBC2-7A64-4ADF-B67B-B63D198F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57775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4E8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4E876"/>
                </a:solidFill>
                <a:latin typeface="Arial"/>
                <a:ea typeface="Arial"/>
                <a:cs typeface="Arial"/>
              </a:rPr>
              <a:t>Team scheduling for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0B9943-F18D-49B8-B196-729DE0BB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4830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4E8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4E876"/>
                </a:solidFill>
                <a:latin typeface="Arial"/>
                <a:ea typeface="Arial"/>
                <a:cs typeface="Arial"/>
              </a:rPr>
              <a:t>the work ahead.</a:t>
            </a:r>
          </a:p>
        </p:txBody>
      </p:sp>
    </p:spTree>
    <p:extLst>
      <p:ext uri="{BB962C8B-B14F-4D97-AF65-F5344CB8AC3E}">
        <p14:creationId xmlns:p14="http://schemas.microsoft.com/office/powerpoint/2010/main" val="7145475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81B3D6-B7DA-449B-BFF0-370B5F57E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MOGS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C67BC9-CC16-433F-B47A-163DD943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19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46B6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6B60"/>
                </a:solidFill>
                <a:latin typeface="Arial"/>
                <a:ea typeface="Arial"/>
                <a:cs typeface="Arial"/>
              </a:rPr>
              <a:t>Fictional MOGS campaign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44508F-19B6-48F9-9CEE-A3D66E62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7222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46B6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6B6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CA3902-B2BB-40B4-B122-4AD3F9A1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0175"/>
            <a:ext cx="10477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925" b="0">
                <a:solidFill>
                  <a:srgbClr val="163C30"/>
                </a:solidFill>
                <a:latin typeface="Georgia"/>
                <a:ea typeface="Georgia"/>
                <a:cs typeface="Georgia"/>
              </a:defRPr>
            </a:pPr>
            <a:r>
              <a:rPr sz="5925" b="0">
                <a:solidFill>
                  <a:srgbClr val="163C30"/>
                </a:solidFill>
                <a:latin typeface="Georgia"/>
                <a:ea typeface="Georgia"/>
                <a:cs typeface="Georgia"/>
              </a:rPr>
              <a:t>A little more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EC1ECD-8D8C-429E-B570-C718091D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10953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925" b="0">
                <a:solidFill>
                  <a:srgbClr val="163C30"/>
                </a:solidFill>
                <a:latin typeface="Georgia"/>
                <a:ea typeface="Georgia"/>
                <a:cs typeface="Georgia"/>
              </a:defRPr>
            </a:pPr>
            <a:r>
              <a:rPr sz="5925" b="0">
                <a:solidFill>
                  <a:srgbClr val="163C30"/>
                </a:solidFill>
                <a:latin typeface="Georgia"/>
                <a:ea typeface="Georgia"/>
                <a:cs typeface="Georgia"/>
              </a:rPr>
              <a:t>room in the week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5EB147-DF0D-448F-9B2A-1757DC59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C6B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BA62A5-30CE-4D68-B196-50687E97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4340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A shared plan begins with a conversation.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1A8B22-D5F2-4096-8185-FF4C36D8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720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46B6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46B60"/>
                </a:solidFill>
                <a:latin typeface="Arial"/>
                <a:ea typeface="Arial"/>
                <a:cs typeface="Arial"/>
              </a:rPr>
              <a:t>Who needs to be there. What needs to happen.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47B505-061A-4EB7-9B6C-B7092545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054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46B6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46B60"/>
                </a:solidFill>
                <a:latin typeface="Arial"/>
                <a:ea typeface="Arial"/>
                <a:cs typeface="Arial"/>
              </a:rPr>
              <a:t>MOGS is team scheduling software.</a:t>
            </a:r>
          </a:p>
        </p:txBody>
      </p:sp>
    </p:spTree>
    <p:extLst>
      <p:ext uri="{BB962C8B-B14F-4D97-AF65-F5344CB8AC3E}">
        <p14:creationId xmlns:p14="http://schemas.microsoft.com/office/powerpoint/2010/main" val="12569666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1042E6-10F2-43AF-9F43-90C48BC7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MOGS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B0CA4-2A27-4D7D-A41A-EAC86309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19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46B6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6B60"/>
                </a:solidFill>
                <a:latin typeface="Arial"/>
                <a:ea typeface="Arial"/>
                <a:cs typeface="Arial"/>
              </a:rPr>
              <a:t>Fictional MOGS campaign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4CDEA-5792-4EDB-9EF4-2CC449E0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7222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46B6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6B6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D61397-C82C-4ECA-9A65-B9E62273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10953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75" b="0">
                <a:solidFill>
                  <a:srgbClr val="163C30"/>
                </a:solidFill>
                <a:latin typeface="Georgia"/>
                <a:ea typeface="Georgia"/>
                <a:cs typeface="Georgia"/>
              </a:defRPr>
            </a:pPr>
            <a:r>
              <a:rPr sz="5475" b="0">
                <a:solidFill>
                  <a:srgbClr val="163C30"/>
                </a:solidFill>
                <a:latin typeface="Georgia"/>
                <a:ea typeface="Georgia"/>
                <a:cs typeface="Georgia"/>
              </a:rPr>
              <a:t>Plans for your team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802EDB-992E-4DAC-8DB3-B9E1AC06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B09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F9609F-8B2F-4AAA-9EC1-EA2E05A4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163C30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163C30"/>
                </a:solidFill>
                <a:latin typeface="Georgia"/>
                <a:ea typeface="Georgia"/>
                <a:cs typeface="Georgia"/>
              </a:rPr>
              <a:t>Starter is $30 a month.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0A8063-A8C7-46D5-8F84-5237F0AD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B09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600A17-C8B1-49EF-8F1F-0D0D1B91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163C30"/>
                </a:solidFill>
                <a:latin typeface="Georgia"/>
                <a:ea typeface="Georgia"/>
                <a:cs typeface="Georgia"/>
              </a:defRPr>
            </a:pPr>
            <a:r>
              <a:rPr sz="3525" b="0">
                <a:solidFill>
                  <a:srgbClr val="163C30"/>
                </a:solidFill>
                <a:latin typeface="Georgia"/>
                <a:ea typeface="Georgia"/>
                <a:cs typeface="Georgia"/>
              </a:rPr>
              <a:t>Team is $80 a month.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02656A-44B0-41CB-97E8-C00BE4D0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B09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275D42-40D1-4FCB-AB94-7A3324A0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Team is only $50 a month more than Starter.</a:t>
            </a:r>
          </a:p>
        </p:txBody>
      </p:sp>
    </p:spTree>
    <p:extLst>
      <p:ext uri="{BB962C8B-B14F-4D97-AF65-F5344CB8AC3E}">
        <p14:creationId xmlns:p14="http://schemas.microsoft.com/office/powerpoint/2010/main" val="18412946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D4E87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F0FAE8-D763-464B-BCF4-F21DFE65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3C30"/>
                </a:solidFill>
                <a:latin typeface="Arial"/>
                <a:ea typeface="Arial"/>
                <a:cs typeface="Arial"/>
              </a:rPr>
              <a:t>MOGS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6625FA-25F5-4630-A8AE-EBF6358A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19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46B6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6B60"/>
                </a:solidFill>
                <a:latin typeface="Arial"/>
                <a:ea typeface="Arial"/>
                <a:cs typeface="Arial"/>
              </a:rPr>
              <a:t>Fictional MOGS campaign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AA0D71-8F4D-4FFD-A4E3-FDBDD147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7222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46B6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46B6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35B7D9-4F4B-48FF-9C0F-46E6D6F86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1076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0">
                <a:solidFill>
                  <a:srgbClr val="163C30"/>
                </a:solidFill>
                <a:latin typeface="Georgia"/>
                <a:ea typeface="Georgia"/>
                <a:cs typeface="Georgia"/>
              </a:defRPr>
            </a:pPr>
            <a:r>
              <a:rPr sz="5400" b="0">
                <a:solidFill>
                  <a:srgbClr val="163C30"/>
                </a:solidFill>
                <a:latin typeface="Georgia"/>
                <a:ea typeface="Georgia"/>
                <a:cs typeface="Georgia"/>
              </a:rPr>
              <a:t>A year of room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0B6899-B133-46DD-B445-88C01B75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05025"/>
            <a:ext cx="1047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0" b="0">
                <a:solidFill>
                  <a:srgbClr val="163C30"/>
                </a:solidFill>
                <a:latin typeface="Georgia"/>
                <a:ea typeface="Georgia"/>
                <a:cs typeface="Georgia"/>
              </a:defRPr>
            </a:pPr>
            <a:r>
              <a:rPr sz="14250" b="0">
                <a:solidFill>
                  <a:srgbClr val="163C30"/>
                </a:solidFill>
                <a:latin typeface="Georgia"/>
                <a:ea typeface="Georgia"/>
                <a:cs typeface="Georgia"/>
              </a:rPr>
              <a:t>20%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925C99-D8BE-4E96-A179-CF9151A8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481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Save 20% on Starter with annual billing.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D64A5C-D445-40A8-B98D-E058E722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A4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49F393-F72E-4B4D-9E4E-4C97454B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9592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3C3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C30"/>
                </a:solidFill>
                <a:latin typeface="Arial"/>
                <a:ea typeface="Arial"/>
                <a:cs typeface="Arial"/>
              </a:rPr>
              <a:t>Starter is $288 a year, or $24 a month billed annually.</a:t>
            </a:r>
          </a:p>
        </p:txBody>
      </p:sp>
    </p:spTree>
    <p:extLst>
      <p:ext uri="{BB962C8B-B14F-4D97-AF65-F5344CB8AC3E}">
        <p14:creationId xmlns:p14="http://schemas.microsoft.com/office/powerpoint/2010/main" val="4393846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63C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0D56D6-3CFA-459B-B0DD-0FF92B9F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5F1E7"/>
                </a:solidFill>
                <a:latin typeface="Arial"/>
                <a:ea typeface="Arial"/>
                <a:cs typeface="Arial"/>
              </a:rPr>
              <a:t>MOGS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E0AD30-139C-4940-9699-14C6B776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419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7D7C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7D7CE"/>
                </a:solidFill>
                <a:latin typeface="Arial"/>
                <a:ea typeface="Arial"/>
                <a:cs typeface="Arial"/>
              </a:rPr>
              <a:t>Fictional MOGS campaign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0DB579-4C63-4854-BBD1-594845E4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7222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7D7C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7D7C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EE1C1E-B4A7-49A9-A571-68D69EBA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43025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75" b="0">
                <a:solidFill>
                  <a:srgbClr val="F5F1E7"/>
                </a:solidFill>
                <a:latin typeface="Georgia"/>
                <a:ea typeface="Georgia"/>
                <a:cs typeface="Georgia"/>
              </a:defRPr>
            </a:pPr>
            <a:r>
              <a:rPr sz="7575" b="0">
                <a:solidFill>
                  <a:srgbClr val="F5F1E7"/>
                </a:solidFill>
                <a:latin typeface="Georgia"/>
                <a:ea typeface="Georgia"/>
                <a:cs typeface="Georgia"/>
              </a:rPr>
              <a:t>Your next week,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8AC341-1986-4EAA-9760-ED4C35C2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104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75" b="0">
                <a:solidFill>
                  <a:srgbClr val="F5F1E7"/>
                </a:solidFill>
                <a:latin typeface="Georgia"/>
                <a:ea typeface="Georgia"/>
                <a:cs typeface="Georgia"/>
              </a:defRPr>
            </a:pPr>
            <a:r>
              <a:rPr sz="7575" b="0">
                <a:solidFill>
                  <a:srgbClr val="F5F1E7"/>
                </a:solidFill>
                <a:latin typeface="Georgia"/>
                <a:ea typeface="Georgia"/>
                <a:cs typeface="Georgia"/>
              </a:rPr>
              <a:t>with more room.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47F3F5-63B8-4AD1-BA63-67DA50FD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1066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D4E876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D4E876"/>
                </a:solidFill>
                <a:latin typeface="Arial"/>
                <a:ea typeface="Arial"/>
                <a:cs typeface="Arial"/>
              </a:rPr>
              <a:t>Starter costs about a dollar a day.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483084-5199-4F3F-A802-D189350B0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A5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51A290-E94B-41E1-A563-E48AE088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5F1E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5F1E7"/>
                </a:solidFill>
                <a:latin typeface="Arial"/>
                <a:ea typeface="Arial"/>
                <a:cs typeface="Arial"/>
              </a:rPr>
              <a:t>Let’s talk about your team’s schedule.</a:t>
            </a:r>
          </a:p>
        </p:txBody>
      </p:sp>
    </p:spTree>
    <p:extLst>
      <p:ext uri="{BB962C8B-B14F-4D97-AF65-F5344CB8AC3E}">
        <p14:creationId xmlns:p14="http://schemas.microsoft.com/office/powerpoint/2010/main" val="13485474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2026-10-03T22:40:40.3710000Z</dcterms:created>
  <dcterms:modified xsi:type="dcterms:W3CDTF">2026-10-03T22:40:40.3710000Z</dcterms:modified>
</coreProperties>
</file>